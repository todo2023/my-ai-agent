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全13回（デモ＋本編12回）第1回・思考力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問いを立てる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答えを聞く前に、問いを磨く。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読みながら手を止めて、ワークに実際に取り組んでください。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その問い、磨くとどう変わる?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よくある問い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A857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AIって、結局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A857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何に使えるんですか?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3291840" cy="0"/>
          </a:xfrm>
          <a:prstGeom prst="line">
            <a:avLst/>
          </a:prstGeom>
          <a:noFill/>
          <a:ln w="19050">
            <a:solidFill>
              <a:srgbClr val="AD352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8932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磨くと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こう変わる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297680" cy="2377440"/>
          </a:xfrm>
          <a:prstGeom prst="roundRect">
            <a:avLst>
              <a:gd name="adj" fmla="val 4615"/>
            </a:avLst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49808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磨いた後の問い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423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自分の意思決定に、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AIをどう組み込むか?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この講座が鍛えるのは「AIの使い方」そのものより、この書き換えができる力です。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良い問いの条件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聞いた瞬間に、次の行動が決まるか。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514600"/>
            <a:ext cx="365760" cy="365760"/>
          </a:xfrm>
          <a:prstGeom prst="ellipse">
            <a:avLst/>
          </a:prstGeom>
          <a:solidFill>
            <a:srgbClr val="9AA1B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554480" y="2212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AIで何ができる?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7249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特に何も起きない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E7F0E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60120" y="4206240"/>
            <a:ext cx="365760" cy="365760"/>
          </a:xfrm>
          <a:prstGeom prst="ellipse">
            <a:avLst/>
          </a:prstGeom>
          <a:solidFill>
            <a:srgbClr val="1F8A72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554480" y="3904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何をAIに任せて、何を自分でやるべきか?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4165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6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動ける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なぜ、この回をやるのか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「問いを立てる力」は、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データサイエンティストの核心スキル。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大学のカリキュラムも、求人の現場も、同じことを言っています。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728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41%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526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「課題解決人材」を最重視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する国内企業（技術専門人材は約10%）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3832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9224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70-87%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526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課題定義の甘さが主因とされる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データ分析プロジェクトの失敗率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 1｜データサイエンティスト協会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スキル定義の中心に「課題の再定義」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ビジネス力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（→ 価値創造力）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20116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29768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データサイエンス力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20116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1812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データエンジニアリング力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2025年版（ver.6）で「ビジネス力」は「価値創造力」へ刷新。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その中核に置かれたのが「課題の再定義」。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技術力の前に、課題そのものを定義し直す力が重視されている、ということ。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 2｜滋賀大学 データサイエンス学部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「見つける力」が最初に来る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河本薫教授（元大阪ガス／初代データサイエンティスト・オブ・ザ・イヤー）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729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見つける力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1762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課題設定力。「新しい課題を見つける力が特に重要」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9098A8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解く力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0449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いわゆる分析力。手法を使いこなす力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9098A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使わせる力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9136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現場に実装し、実行させる力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学生は「問題を解く」のは得意でも、「問題を作る」のは苦手だという指摘もある。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 3｜国内企業への調査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採用現場が求めているのは、技術より課題解決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41%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データによる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ビジネス課題解決が得意な人材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を最も求める人材像として選んだ企業の割合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9202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9893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B728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約10%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データ分析の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プロフェッショナルな人材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を最も求める人材像として選んだ企業の割合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出典：データサイエンティスト協会 国内企業採用動向調査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 4｜海外の実務家の声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世界でも、言われていることは同じ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データサイエンティストの仕事は、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正しい問いを立てることだ。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Hilary Mason（元bitly チーフサイエンティスト）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モデルを当てはめるのは簡単だ。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問題を定義することはそうではない。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Hamner（Kaggle CTO）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32104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43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無関係な問題にエレガントな解を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出すことほどの侮辱はない。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Patil（米国初代 Chief Data Scientist）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フレームワーク｜安宅和人『イシューからはじめよ』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イシュー度 × 解の質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91840" y="1737360"/>
            <a:ext cx="2834640" cy="2103120"/>
          </a:xfrm>
          <a:prstGeom prst="rect">
            <a:avLst/>
          </a:prstGeom>
          <a:solidFill>
            <a:srgbClr val="E9EBF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26480" y="1737360"/>
            <a:ext cx="2834640" cy="2103120"/>
          </a:xfrm>
          <a:prstGeom prst="rect">
            <a:avLst/>
          </a:prstGeom>
          <a:solidFill>
            <a:srgbClr val="AD3527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91840" y="3840480"/>
            <a:ext cx="2834640" cy="2103120"/>
          </a:xfrm>
          <a:prstGeom prst="rect">
            <a:avLst/>
          </a:prstGeom>
          <a:solidFill>
            <a:srgbClr val="E9EBF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26480" y="3840480"/>
            <a:ext cx="2834640" cy="2103120"/>
          </a:xfrm>
          <a:prstGeom prst="rect">
            <a:avLst/>
          </a:prstGeom>
          <a:solidFill>
            <a:srgbClr val="E9C9C2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バリューのある仕事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977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犬の道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（労力で押し切る）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価値なし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977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時間切れ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（着手が遅い）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解の質 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6080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イシュー度 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いくら解の質を高めても、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そもそも取り組む価値のある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問い（イシュー度）でなければ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意味がない。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AIとの向き合い方も、同じ話。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曖昧な問い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AIで何ができる?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特に何も起きない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磨いた問い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何をAIに任せて、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何を自分でやるべきか?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動ける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次回以降、AIに何を任せるかを具体的に練習していきます。今日はまず「問いの立て方」だけに集中してください。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自分の「曖昧な問い」を3つ書き出す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就活・研究・仕事の中から、まだ形になっていない問いを3つ、そのまま書き出してください。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上手くまとめようとしなくて大丈夫です。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29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3035808"/>
            <a:ext cx="9875520" cy="0"/>
          </a:xfrm>
          <a:prstGeom prst="line">
            <a:avLst/>
          </a:prstGeom>
          <a:noFill/>
          <a:ln w="12700">
            <a:solidFill>
              <a:srgbClr val="CBD0D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29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4270248"/>
            <a:ext cx="9875520" cy="0"/>
          </a:xfrm>
          <a:prstGeom prst="line">
            <a:avLst/>
          </a:prstGeom>
          <a:noFill/>
          <a:ln w="12700">
            <a:solidFill>
              <a:srgbClr val="CBD0D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29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5504688"/>
            <a:ext cx="9875520" cy="0"/>
          </a:xfrm>
          <a:prstGeom prst="line">
            <a:avLst/>
          </a:prstGeom>
          <a:noFill/>
          <a:ln w="12700">
            <a:solidFill>
              <a:srgbClr val="CBD0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漠然とした状況から、問いを組み立てる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729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お題例：「なんとなく、上手くいっていない」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実務では、最初からこのくらい曖昧な状態からしか始まりません。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整った問いをもらえることはない、という前提を体感してください。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959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何について「上手くいっていない」のか、対象を1つに絞る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5902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「上手くいっていない」を、測れる言葉に置き換える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846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そこから、次の行動が決まる問いを1つ立てる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第1回｜問いを立てる（思考力）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答えを聞く前に、問いを磨く。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43000" y="2377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良い問いとは、聞いた瞬間に次の行動が決まる問い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143000" y="29718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課題設定力は、データサイエンティストにも共通して求められる核心スキル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43000" y="3566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イシュー度の低い問いに解の質を積んでも、価値は生まれない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次回予告｜第2回：AIとの役割分担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今回書き換えた問いをAIに投げてみて、返ってきた答えのどこを自分で判断し直すべきかを考えます。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ワークの提出物は、Slackの公開スレッドに投稿してください（GROWTH以上は次回添削対象になります）。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2026-09-01T08:05:20Z</dcterms:created>
  <dcterms:modified xsi:type="dcterms:W3CDTF">2026-09-01T08:05:20Z</dcterms:modified>
</cp:coreProperties>
</file>